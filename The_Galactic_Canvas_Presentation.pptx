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hanugupta04022-hub/Milky-Way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65893" y="367042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72329" y="390819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15018" y="371298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27276" y="556766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33890" y="111499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2751" y="266872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76304" y="117202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0085" y="548397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07066" y="611103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5567" y="290892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84423" y="76985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16527" y="640528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86253" y="209149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8503" y="393560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44018" y="616809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6722" y="119604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91462" y="383194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22649" y="386066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28" y="568115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27310" y="56962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0704" y="512834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28778" y="508187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07518" y="371341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41963" y="37096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2395" y="361426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03614" y="184704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76594" y="247564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28016" y="312624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1371" y="455818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2018" y="540569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77096" y="478314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60432" y="352044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8986" y="654796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12887" y="396240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68091" y="229551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41747" y="409005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55978" y="396353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22300" y="309964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63566" y="216709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7431" y="208745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17328" y="31193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080887" y="438128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033622" y="453931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278087" y="629926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62998" y="637419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958293" y="155259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812110" y="92219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7482" y="558074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48840" y="537786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99283" y="396421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299456" y="565538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75777" y="202249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80663" y="114993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349973" y="585019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31915" y="615791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99341" y="556920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191512" y="161392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34889" y="200050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54929" y="535012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995520" y="22249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18646" y="168910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20543" y="48284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27882" y="644755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436815" y="242140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92497" y="544009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547922" y="612148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082336" y="330213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29695" y="174891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758617" y="517836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8977" y="96078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50442" y="646509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105960" y="218803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313009" y="433707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286441" y="655164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654086" y="15981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6961" y="129638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322198" y="521812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660719" y="418134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64192" y="335829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433435" y="285281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736284" y="189065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187895" y="290191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585774" y="596624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654523" y="93665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428459" y="220422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23966" y="16898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341466" y="42484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317554" y="585336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16359" y="560061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69282" y="450990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695975" y="71357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728165" y="78582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991547" y="379863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004742" y="433097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459547" y="625689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262984" y="623184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598718" y="166455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021760" y="117994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780070" y="596330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276675" y="499436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682994" y="134543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504850" y="393912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259003" y="363020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521597" y="281975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789232" y="187768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184703" y="247742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340284" y="106951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257600" y="317587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938646" y="60703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857472" y="637139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577840" y="1508760"/>
            <a:ext cx="4754880" cy="3291840"/>
          </a:xfrm>
          <a:prstGeom prst="ellipse">
            <a:avLst/>
          </a:prstGeom>
          <a:noFill/>
          <a:ln w="12700">
            <a:solidFill>
              <a:srgbClr val="E7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257800" y="1325880"/>
            <a:ext cx="5394960" cy="3657600"/>
          </a:xfrm>
          <a:prstGeom prst="ellipse">
            <a:avLst/>
          </a:prstGeom>
          <a:noFill/>
          <a:ln w="12700">
            <a:solidFill>
              <a:srgbClr val="E7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937759" y="1143000"/>
            <a:ext cx="6035040" cy="4023360"/>
          </a:xfrm>
          <a:prstGeom prst="ellipse">
            <a:avLst/>
          </a:prstGeom>
          <a:noFill/>
          <a:ln w="12700">
            <a:solidFill>
              <a:srgbClr val="E7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7A93C"/>
                </a:solidFill>
                <a:latin typeface="Aptos"/>
              </a:rPr>
              <a:t>INTERACTIVE WEBSITE • DATA STORYTELLING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" y="1234440"/>
            <a:ext cx="621792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ECE7DC"/>
                </a:solidFill>
                <a:latin typeface="Georgia"/>
              </a:rPr>
              <a:t>The Galactic
Canvas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2971800"/>
            <a:ext cx="53949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C93A8"/>
                </a:solidFill>
                <a:latin typeface="Aptos"/>
              </a:rPr>
              <a:t>An interactive storytelling journey from
Milky Way → Solar System → Sun → Planets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5166360"/>
            <a:ext cx="6400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E7DC"/>
                </a:solidFill>
                <a:latin typeface="Aptos"/>
              </a:rPr>
              <a:t>Research • Information Architecture • Visual System • Interaction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562356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93A8"/>
                </a:solidFill>
                <a:latin typeface="Aptos"/>
              </a:rPr>
              <a:t>M.Des / Interactive Website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43110" y="80693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79346" y="56899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49075" y="533388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22536" y="247595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9382" y="152909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53154" y="182679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96387" y="201757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79338" y="232765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95569" y="174283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65545" y="544705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41082" y="385310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3338" y="140395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3093" y="306757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23732" y="531401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37007" y="661298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12606" y="661173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44132" y="145294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0882" y="296728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76505" y="600819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9533" y="162303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72619" y="128979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6065" y="466414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63554" y="226091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60988" y="112988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50455" y="416566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80235" y="594176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09523" y="402477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596" y="249595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78256" y="535918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91433" y="651090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87762" y="54103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82739" y="110866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69824" y="175410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61194" y="203878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877640" y="323890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8311" y="37652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92151" y="591071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68507" y="37611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85989" y="515121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47888" y="224722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26250" y="383584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43125" y="292952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58204" y="319649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129655" y="153453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106667" y="634555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680680" y="638122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30223" y="415939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16323" y="578592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50096" y="275824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623302" y="150829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88459" y="180786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287562" y="261125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1946" y="631101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67881" y="545059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363276" y="64997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01 / PROJECT INTENT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From information to experience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The research began with a simple question: how can the scale of space be understood rather than just read?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2148840"/>
            <a:ext cx="3063240" cy="329184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242316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THE 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2788920"/>
            <a:ext cx="2423160" cy="1234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ECE7DC"/>
                </a:solidFill>
                <a:latin typeface="Georgia"/>
              </a:rPr>
              <a:t>Space is vast,
abstract and difficult
to grasp from text alone.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343400"/>
            <a:ext cx="24231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8C93A8"/>
                </a:solidFill>
                <a:latin typeface="Aptos"/>
              </a:rPr>
              <a:t>Distances, sizes and relationships lose meaning when presented as isolated facts.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794760" y="3794760"/>
            <a:ext cx="777240" cy="0"/>
          </a:xfrm>
          <a:prstGeom prst="line">
            <a:avLst/>
          </a:prstGeom>
          <a:ln w="2540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041648" y="3401568"/>
            <a:ext cx="4114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E7A93C"/>
                </a:solidFill>
                <a:latin typeface="Aptos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617720" y="2148840"/>
            <a:ext cx="3063240" cy="3291840"/>
          </a:xfrm>
          <a:prstGeom prst="roundRect">
            <a:avLst/>
          </a:prstGeom>
          <a:solidFill>
            <a:srgbClr val="0C111F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92040" y="242316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FD3D3"/>
                </a:solidFill>
                <a:latin typeface="Aptos"/>
              </a:rPr>
              <a:t>THE APPROACH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92040" y="2788920"/>
            <a:ext cx="237744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ECE7DC"/>
                </a:solidFill>
                <a:latin typeface="Georgia"/>
              </a:rPr>
              <a:t>Turn scale into
a visual journey.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92040" y="4069080"/>
            <a:ext cx="233172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8C93A8"/>
                </a:solidFill>
                <a:latin typeface="Aptos"/>
              </a:rPr>
              <a:t>Scroll + zoom + narrative flow connect the largest scale to the smallest.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772400" y="3794760"/>
            <a:ext cx="777240" cy="0"/>
          </a:xfrm>
          <a:prstGeom prst="line">
            <a:avLst/>
          </a:prstGeom>
          <a:ln w="2540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028431" y="3401568"/>
            <a:ext cx="4114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E7A93C"/>
                </a:solidFill>
                <a:latin typeface="Aptos"/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95360" y="2148840"/>
            <a:ext cx="2926080" cy="329184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69680" y="242316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7A93C"/>
                </a:solidFill>
                <a:latin typeface="Aptos"/>
              </a:rPr>
              <a:t>THE OUTCOME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2788920"/>
            <a:ext cx="224028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ECE7DC"/>
                </a:solidFill>
                <a:latin typeface="Georgia"/>
              </a:rPr>
              <a:t>A cinematic,
self-paced learning
experience.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9680" y="4343400"/>
            <a:ext cx="21945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8C93A8"/>
                </a:solidFill>
                <a:latin typeface="Aptos"/>
              </a:rPr>
              <a:t>Education + web design + interaction + data storytelling.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41717" y="495301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72109" y="626165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82861" y="318246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00954" y="386332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3470" y="195162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94319" y="60415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133" y="644980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33023" y="637053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16194" y="217345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51760" y="419955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77500" y="640279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3569" y="283083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1488" y="209365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95900" y="233086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7048" y="325827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7499" y="471204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28363" y="28560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43084" y="370182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11090" y="559865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0423" y="418645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0749" y="617270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29302" y="593285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39147" y="396604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4152" y="294814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87610" y="410279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14180" y="469865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91373" y="212489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6784" y="461144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7475" y="66276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58427" y="399329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75328" y="108261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04256" y="558044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42106" y="99918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43967" y="255875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37460" y="105387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528480" y="330640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94675" y="318903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18643" y="655401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277184" y="577111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84022" y="348182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80767" y="516798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71066" y="376836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0597" y="513454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60180" y="390694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639350" y="176471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02 / RESEARCH FOUNDATION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Audience, rationale &amp; research direction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2057400"/>
            <a:ext cx="3474720" cy="38862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23317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7A93C"/>
                </a:solidFill>
                <a:latin typeface="Aptos"/>
              </a:rPr>
              <a:t>TARGET AUDIENCE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278892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CE7DC"/>
                </a:solidFill>
                <a:latin typeface="Aptos"/>
              </a:defRPr>
            </a:pPr>
            <a:r>
              <a:t>• School / college students</a:t>
            </a:r>
          </a:p>
          <a:p>
            <a:pPr>
              <a:spcAft>
                <a:spcPts val="700"/>
              </a:spcAft>
              <a:defRPr sz="1500">
                <a:solidFill>
                  <a:srgbClr val="ECE7DC"/>
                </a:solidFill>
                <a:latin typeface="Aptos"/>
              </a:defRPr>
            </a:pPr>
            <a:r>
              <a:t>• Teachers &amp; educators</a:t>
            </a:r>
          </a:p>
          <a:p>
            <a:pPr>
              <a:spcAft>
                <a:spcPts val="700"/>
              </a:spcAft>
              <a:defRPr sz="1500">
                <a:solidFill>
                  <a:srgbClr val="ECE7DC"/>
                </a:solidFill>
                <a:latin typeface="Aptos"/>
              </a:defRPr>
            </a:pPr>
            <a:r>
              <a:t>• Space enthusiasts</a:t>
            </a:r>
          </a:p>
          <a:p>
            <a:pPr>
              <a:spcAft>
                <a:spcPts val="700"/>
              </a:spcAft>
              <a:defRPr sz="1500">
                <a:solidFill>
                  <a:srgbClr val="ECE7DC"/>
                </a:solidFill>
                <a:latin typeface="Aptos"/>
              </a:defRPr>
            </a:pPr>
            <a:r>
              <a:t>• Curious general visitors</a:t>
            </a:r>
          </a:p>
          <a:p>
            <a:pPr>
              <a:spcAft>
                <a:spcPts val="700"/>
              </a:spcAft>
              <a:defRPr sz="1500">
                <a:solidFill>
                  <a:srgbClr val="ECE7DC"/>
                </a:solidFill>
                <a:latin typeface="Aptos"/>
              </a:defRPr>
            </a:pPr>
            <a:r>
              <a:t>• Assignment evaluators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440680"/>
            <a:ext cx="27889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Content is intentionally accessible and not overly technical.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3400" y="2057400"/>
            <a:ext cx="3474720" cy="38862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233172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C8CF2"/>
                </a:solidFill>
                <a:latin typeface="Aptos"/>
              </a:rPr>
              <a:t>WHY SPACE?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17720" y="2788920"/>
            <a:ext cx="2788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CE7DC"/>
                </a:solidFill>
                <a:latin typeface="Aptos"/>
              </a:defRPr>
            </a:pPr>
            <a:r>
              <a:t>• Strong visual potential</a:t>
            </a:r>
          </a:p>
          <a:p>
            <a:pPr>
              <a:spcAft>
                <a:spcPts val="700"/>
              </a:spcAft>
              <a:defRPr sz="1400">
                <a:solidFill>
                  <a:srgbClr val="ECE7DC"/>
                </a:solidFill>
                <a:latin typeface="Aptos"/>
              </a:defRPr>
            </a:pPr>
            <a:r>
              <a:t>• Naturally supports zoom-in storytelling</a:t>
            </a:r>
          </a:p>
          <a:p>
            <a:pPr>
              <a:spcAft>
                <a:spcPts val="700"/>
              </a:spcAft>
              <a:defRPr sz="1400">
                <a:solidFill>
                  <a:srgbClr val="ECE7DC"/>
                </a:solidFill>
                <a:latin typeface="Aptos"/>
              </a:defRPr>
            </a:pPr>
            <a:r>
              <a:t>• Reliable scientific data</a:t>
            </a:r>
          </a:p>
          <a:p>
            <a:pPr>
              <a:spcAft>
                <a:spcPts val="700"/>
              </a:spcAft>
              <a:defRPr sz="1400">
                <a:solidFill>
                  <a:srgbClr val="ECE7DC"/>
                </a:solidFill>
                <a:latin typeface="Aptos"/>
              </a:defRPr>
            </a:pPr>
            <a:r>
              <a:t>• Supports comparisons of scale, distance &amp; temperature</a:t>
            </a:r>
          </a:p>
          <a:p>
            <a:pPr>
              <a:spcAft>
                <a:spcPts val="700"/>
              </a:spcAft>
              <a:defRPr sz="1400">
                <a:solidFill>
                  <a:srgbClr val="ECE7DC"/>
                </a:solidFill>
                <a:latin typeface="Aptos"/>
              </a:defRPr>
            </a:pPr>
            <a:r>
              <a:t>• High educational value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057400"/>
            <a:ext cx="3474720" cy="38862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23317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FD3D3"/>
                </a:solidFill>
                <a:latin typeface="Aptos"/>
              </a:rPr>
              <a:t>RESEARCH GOAL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2788920"/>
            <a:ext cx="265176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CE7DC"/>
                </a:solidFill>
                <a:latin typeface="Georgia"/>
              </a:rPr>
              <a:t>Understand →
structure →
translate →
interact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4617720"/>
            <a:ext cx="269748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3A8"/>
                </a:solidFill>
                <a:latin typeface="Aptos"/>
              </a:rPr>
              <a:t>The research was organized into four stages: Milky Way, Solar System, Sun and the eight planets.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67752" y="547348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47106" y="14009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72305" y="221068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8113" y="142331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47337" y="74879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86924" y="458882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08297" y="248826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14745" y="467926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4567" y="202759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68493" y="551211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4793" y="604192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2913" y="404384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40584" y="71943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7054" y="187633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87525" y="103377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5997" y="467019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86085" y="24790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88393" y="416407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23446" y="266371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022916" y="48658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08732" y="271954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4260" y="71534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5634" y="260433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06109" y="210730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21230" y="455304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27175" y="640265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1787" y="176760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83994" y="306862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55761" y="287521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99022" y="439793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11098" y="336153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93545" y="119559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5515" y="221541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06561" y="116414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0769" y="305449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5115" y="515938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78198" y="248742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47628" y="610530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29154" y="287760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11057" y="78739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31287" y="171711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5073" y="447500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11181" y="314120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3834" y="371715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84896" y="605417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03 / RESEARCH QUESTIONS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A four-stage research framework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The same logic used in research becomes the narrative logic of the website.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2130552"/>
            <a:ext cx="457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7A93C"/>
                </a:solidFill>
                <a:latin typeface="Aptos"/>
              </a:rPr>
              <a:t>01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325880" y="2304288"/>
            <a:ext cx="502920" cy="0"/>
          </a:xfrm>
          <a:prstGeom prst="line">
            <a:avLst/>
          </a:prstGeom>
          <a:ln w="1905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20240" y="2057400"/>
            <a:ext cx="24688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CE7DC"/>
                </a:solidFill>
                <a:latin typeface="Aptos"/>
              </a:rPr>
              <a:t>MILKY WAY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2039112"/>
            <a:ext cx="69494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What is it? • How big? • Structure? • Origin? • Sagittarius A*?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1520" y="2843784"/>
            <a:ext cx="10744200" cy="0"/>
          </a:xfrm>
          <a:prstGeom prst="line">
            <a:avLst/>
          </a:prstGeom>
          <a:ln w="889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3118104"/>
            <a:ext cx="457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C8CF2"/>
                </a:solidFill>
                <a:latin typeface="Aptos"/>
              </a:rPr>
              <a:t>02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25880" y="3291840"/>
            <a:ext cx="502920" cy="0"/>
          </a:xfrm>
          <a:prstGeom prst="line">
            <a:avLst/>
          </a:prstGeom>
          <a:ln w="19050">
            <a:solidFill>
              <a:srgbClr val="9C8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20240" y="3044952"/>
            <a:ext cx="24688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CE7DC"/>
                </a:solidFill>
                <a:latin typeface="Aptos"/>
              </a:rPr>
              <a:t>SOLAR 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60" y="3026664"/>
            <a:ext cx="69494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What is it? • Formation? • Objects? • Orbits? • Galactic position?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31520" y="3831336"/>
            <a:ext cx="10744200" cy="0"/>
          </a:xfrm>
          <a:prstGeom prst="line">
            <a:avLst/>
          </a:prstGeom>
          <a:ln w="889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31520" y="4105656"/>
            <a:ext cx="457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B63C"/>
                </a:solidFill>
                <a:latin typeface="Aptos"/>
              </a:rPr>
              <a:t>03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325880" y="4279392"/>
            <a:ext cx="502920" cy="0"/>
          </a:xfrm>
          <a:prstGeom prst="line">
            <a:avLst/>
          </a:prstGeom>
          <a:ln w="19050">
            <a:solidFill>
              <a:srgbClr val="F2B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920240" y="4032504"/>
            <a:ext cx="24688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CE7DC"/>
                </a:solidFill>
                <a:latin typeface="Aptos"/>
              </a:rPr>
              <a:t>THE SUN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1960" y="4014216"/>
            <a:ext cx="69494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Composition • Fusion • Temperature • Life cycle • Importance • Solar activity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31520" y="4818888"/>
            <a:ext cx="10744200" cy="0"/>
          </a:xfrm>
          <a:prstGeom prst="line">
            <a:avLst/>
          </a:prstGeom>
          <a:ln w="889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31520" y="5093208"/>
            <a:ext cx="457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FD3D3"/>
                </a:solidFill>
                <a:latin typeface="Aptos"/>
              </a:rPr>
              <a:t>04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325880" y="5266944"/>
            <a:ext cx="502920" cy="0"/>
          </a:xfrm>
          <a:prstGeom prst="line">
            <a:avLst/>
          </a:prstGeom>
          <a:ln w="19050">
            <a:solidFill>
              <a:srgbClr val="6FD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920240" y="5020056"/>
            <a:ext cx="24688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CE7DC"/>
                </a:solidFill>
                <a:latin typeface="Aptos"/>
              </a:rPr>
              <a:t>PLANETS × 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51960" y="5001768"/>
            <a:ext cx="69494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Composition • Distance • Day • Year • Size • Moons • Atmosphere • Uniqueness • Exploration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1520" y="5806440"/>
            <a:ext cx="10744200" cy="0"/>
          </a:xfrm>
          <a:prstGeom prst="line">
            <a:avLst/>
          </a:prstGeom>
          <a:ln w="889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1520" y="598932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7A93C"/>
                </a:solidFill>
                <a:latin typeface="Aptos"/>
              </a:rPr>
              <a:t>BONUS DESIGN RESEARCH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1760" y="5971032"/>
            <a:ext cx="8138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Scrollytelling references • Three.js • GSAP ScrollTrigger • compressed scale comparisons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86624" y="111650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99811" y="74827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89320" y="69515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97969" y="371469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821" y="628823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97607" y="45910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54346" y="100176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4401" y="384366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0757" y="428513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8308" y="54480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85432" y="455447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71490" y="393876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0550" y="529446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65449" y="354686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72541" y="409066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22607" y="120813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31129" y="287492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71118" y="526014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02275" y="399595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22025" y="627025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32070" y="53104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07322" y="455991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5857" y="589603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18837" y="244491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7962" y="512471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80607" y="267529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14789" y="274473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6103" y="574635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73872" y="246638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31186" y="128120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10872" y="328565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88526" y="108292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69371" y="632490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30088" y="520090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79901" y="80934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402973" y="652985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43899" y="403722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74630" y="362101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0294" y="581353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78513" y="634028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97410" y="564866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88599" y="69474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210140" y="185602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1703" y="631118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40131" y="607201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99677" y="465703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496193" y="122163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74876" y="340078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83756" y="653153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82809" y="273849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290435" y="244555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29404" y="320305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30568" y="237231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4532" y="80038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151912" y="327066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04 / KEY FINDINGS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The Milky Way → our place inside it</a:t>
            </a:r>
          </a:p>
        </p:txBody>
      </p:sp>
      <p:sp>
        <p:nvSpPr>
          <p:cNvPr id="59" name="Oval 58"/>
          <p:cNvSpPr/>
          <p:nvPr/>
        </p:nvSpPr>
        <p:spPr>
          <a:xfrm>
            <a:off x="822960" y="2148840"/>
            <a:ext cx="3794760" cy="3154680"/>
          </a:xfrm>
          <a:prstGeom prst="ellipse">
            <a:avLst/>
          </a:prstGeom>
          <a:noFill/>
          <a:ln w="15240">
            <a:solidFill>
              <a:srgbClr val="9C8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48840" y="3246120"/>
            <a:ext cx="1143000" cy="960120"/>
          </a:xfrm>
          <a:prstGeom prst="ellipse">
            <a:avLst/>
          </a:prstGeom>
          <a:solidFill>
            <a:srgbClr val="E7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4343400"/>
            <a:ext cx="1508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E7A93C"/>
                </a:solidFill>
                <a:latin typeface="Aptos"/>
              </a:rPr>
              <a:t>SAGITTARIUS A*</a:t>
            </a:r>
          </a:p>
        </p:txBody>
      </p:sp>
      <p:sp>
        <p:nvSpPr>
          <p:cNvPr id="62" name="Oval 61"/>
          <p:cNvSpPr/>
          <p:nvPr/>
        </p:nvSpPr>
        <p:spPr>
          <a:xfrm>
            <a:off x="3383280" y="2788920"/>
            <a:ext cx="137160" cy="137160"/>
          </a:xfrm>
          <a:prstGeom prst="ellipse">
            <a:avLst/>
          </a:prstGeom>
          <a:solidFill>
            <a:srgbClr val="6F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20440" y="2542032"/>
            <a:ext cx="10058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FD3D3"/>
                </a:solidFill>
                <a:latin typeface="Aptos"/>
              </a:rPr>
              <a:t>ORION ARM
— our location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83480" y="2057400"/>
            <a:ext cx="6446520" cy="384048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2423160"/>
            <a:ext cx="2606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CE7DC"/>
                </a:solidFill>
                <a:latin typeface="Georgia"/>
              </a:rPr>
              <a:t>100,000–120,000 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0" y="2807208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approximate diameter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2423160"/>
            <a:ext cx="2606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CE7DC"/>
                </a:solidFill>
                <a:latin typeface="Georgia"/>
              </a:rPr>
              <a:t>100–400 billion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2807208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estimated stars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3410712"/>
            <a:ext cx="2606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CE7DC"/>
                </a:solidFill>
                <a:latin typeface="Georgia"/>
              </a:rPr>
              <a:t>13.6 billion years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0" y="3794760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approximate 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320" y="3410712"/>
            <a:ext cx="2606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CE7DC"/>
                </a:solidFill>
                <a:latin typeface="Georgia"/>
              </a:rPr>
              <a:t>~26,000 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3794760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Solar System from galactic centre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0" y="4398264"/>
            <a:ext cx="2606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CE7DC"/>
                </a:solidFill>
                <a:latin typeface="Georgia"/>
              </a:rPr>
              <a:t>~828,000 km/h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20" y="4782312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orbital speed around galactic centre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4398264"/>
            <a:ext cx="2606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CE7DC"/>
                </a:solidFill>
                <a:latin typeface="Georgia"/>
              </a:rPr>
              <a:t>~230 million years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75320" y="4782312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one galactic year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0" y="5413248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7A93C"/>
                </a:solidFill>
                <a:latin typeface="Aptos"/>
              </a:rPr>
              <a:t>Finding translated into the experience: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35240" y="5376672"/>
            <a:ext cx="33375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Locate the Solar System on the Orion Arm → use it as the zoom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32057" y="638461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15459" y="69020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014000" y="149661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31005" y="267223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23942" y="328654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08278" y="278381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9102" y="181447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09220" y="258606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23747" y="69584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46685" y="407610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79831" y="109936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3639" y="302709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75031" y="101345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1482" y="469565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4603" y="214190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17338" y="440292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6285" y="21452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09167" y="288598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4843" y="592478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7628" y="121605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04285" y="118030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4338" y="260715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15311" y="164153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39485" y="285066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58428" y="35811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29731" y="247543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02801" y="406135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85595" y="234966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96318" y="224995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14466" y="337691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30881" y="640322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49356" y="293552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20061" y="159131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73963" y="92935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40318" y="299039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74748" y="379787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17957" y="141942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23153" y="484494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65267" y="294453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19499" y="340004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64492" y="355039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79194" y="206199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953308" y="602570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3920" y="65408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26553" y="624910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29127" y="553386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779428" y="436609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04967" y="259509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590335" y="411712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73129" y="393598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61201" y="357112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080090" y="337186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409927" y="419191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395418" y="549533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968134" y="424138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05 / KEY FINDINGS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Solar System → Sun → the source of the journey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7A93C"/>
                </a:solidFill>
                <a:latin typeface="Aptos"/>
              </a:rPr>
              <a:t>SOLAR SYSTEM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" y="2788920"/>
            <a:ext cx="960120" cy="960120"/>
          </a:xfrm>
          <a:prstGeom prst="ellipse">
            <a:avLst/>
          </a:prstGeom>
          <a:solidFill>
            <a:srgbClr val="F2B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31519" y="2560320"/>
            <a:ext cx="1417320" cy="1417320"/>
          </a:xfrm>
          <a:prstGeom prst="ellipse">
            <a:avLst/>
          </a:prstGeom>
          <a:noFill/>
          <a:ln>
            <a:solidFill>
              <a:srgbClr val="E7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0059" y="2308860"/>
            <a:ext cx="1920240" cy="1920240"/>
          </a:xfrm>
          <a:prstGeom prst="ellipse">
            <a:avLst/>
          </a:prstGeom>
          <a:noFill/>
          <a:ln>
            <a:solidFill>
              <a:srgbClr val="E7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028700" y="3268980"/>
            <a:ext cx="822960" cy="0"/>
          </a:xfrm>
          <a:prstGeom prst="line">
            <a:avLst/>
          </a:prstGeom>
          <a:ln w="635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81812" y="3268980"/>
            <a:ext cx="1316736" cy="0"/>
          </a:xfrm>
          <a:prstGeom prst="line">
            <a:avLst/>
          </a:prstGeom>
          <a:ln w="635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25780" y="3268980"/>
            <a:ext cx="1828800" cy="0"/>
          </a:xfrm>
          <a:prstGeom prst="line">
            <a:avLst/>
          </a:prstGeom>
          <a:ln w="635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51459" y="3268980"/>
            <a:ext cx="2377441" cy="0"/>
          </a:xfrm>
          <a:prstGeom prst="line">
            <a:avLst/>
          </a:prstGeom>
          <a:ln w="635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22960" y="4069080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CE7DC"/>
                </a:solidFill>
                <a:latin typeface="Aptos"/>
              </a:rPr>
              <a:t>8 planets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434840"/>
            <a:ext cx="1737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93A8"/>
                </a:solidFill>
                <a:latin typeface="Aptos"/>
              </a:rPr>
              <a:t>~4.6 billion years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06040" y="2423160"/>
            <a:ext cx="292608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CE7DC"/>
                </a:solidFill>
                <a:latin typeface="Georgia"/>
              </a:rPr>
              <a:t>The system formed from a collapsing molecular cloud and is held together by the Sun's gravity.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06440" y="2057400"/>
            <a:ext cx="5577840" cy="3886200"/>
          </a:xfrm>
          <a:prstGeom prst="roundRect">
            <a:avLst/>
          </a:prstGeom>
          <a:solidFill>
            <a:srgbClr val="0D0E16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26480" y="2359152"/>
            <a:ext cx="1371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2B63C"/>
                </a:solidFill>
                <a:latin typeface="Aptos"/>
              </a:rPr>
              <a:t>THE SUN</a:t>
            </a:r>
          </a:p>
        </p:txBody>
      </p:sp>
      <p:sp>
        <p:nvSpPr>
          <p:cNvPr id="72" name="Oval 71"/>
          <p:cNvSpPr/>
          <p:nvPr/>
        </p:nvSpPr>
        <p:spPr>
          <a:xfrm>
            <a:off x="6172200" y="2834640"/>
            <a:ext cx="1417320" cy="1417320"/>
          </a:xfrm>
          <a:prstGeom prst="ellipse">
            <a:avLst/>
          </a:prstGeom>
          <a:solidFill>
            <a:srgbClr val="F2B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0760" y="4434840"/>
            <a:ext cx="1645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ECE7DC"/>
                </a:solidFill>
                <a:latin typeface="Aptos"/>
              </a:rPr>
              <a:t>1.39M km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80760" y="4736592"/>
            <a:ext cx="1645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93A8"/>
                </a:solidFill>
                <a:latin typeface="Aptos"/>
              </a:rPr>
              <a:t>diameter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2743200"/>
            <a:ext cx="1371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CE7DC"/>
                </a:solidFill>
                <a:latin typeface="Aptos"/>
              </a:rPr>
              <a:t>99.86%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6720" y="3090672"/>
            <a:ext cx="1417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3A8"/>
                </a:solidFill>
                <a:latin typeface="Aptos"/>
              </a:rPr>
              <a:t>of Solar System mass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55480" y="2743200"/>
            <a:ext cx="1371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CE7DC"/>
                </a:solidFill>
                <a:latin typeface="Aptos"/>
              </a:rPr>
              <a:t>15 million °C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3090672"/>
            <a:ext cx="1417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3A8"/>
                </a:solidFill>
                <a:latin typeface="Aptos"/>
              </a:rPr>
              <a:t>core temperature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3794760"/>
            <a:ext cx="1371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CE7DC"/>
                </a:solidFill>
                <a:latin typeface="Aptos"/>
              </a:rPr>
              <a:t>5,500 °C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6720" y="4142232"/>
            <a:ext cx="1417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3A8"/>
                </a:solidFill>
                <a:latin typeface="Aptos"/>
              </a:rPr>
              <a:t>surface temperature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55480" y="3794760"/>
            <a:ext cx="1371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CE7DC"/>
                </a:solidFill>
                <a:latin typeface="Aptos"/>
              </a:rPr>
              <a:t>73% H / 25% He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55480" y="4142232"/>
            <a:ext cx="1417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3A8"/>
                </a:solidFill>
                <a:latin typeface="Aptos"/>
              </a:rPr>
              <a:t>composition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46720" y="51663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7A93C"/>
                </a:solidFill>
                <a:latin typeface="Aptos"/>
              </a:rPr>
              <a:t>Fusion converts hydrogen into helium → light + heat.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41021" y="256079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38154" y="17893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819" y="373561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42641" y="470432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60532" y="123063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11329" y="579661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0792" y="526339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3561" y="159337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0975" y="605405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8537" y="41759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8452" y="259652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6309" y="289457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3218" y="509958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50893" y="19073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53507" y="25054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42027" y="611603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9868" y="428386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9360" y="125742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46638" y="457282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26621" y="659618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63095" y="274942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01754" y="41652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50615" y="396926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64373" y="574668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33835" y="142763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39429" y="227123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74211" y="301980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2940" y="422409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57898" y="30200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51066" y="518671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38317" y="75895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0722" y="571984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71929" y="124772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7508" y="646877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388623" y="653958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7568" y="306151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06761" y="641147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09029" y="378535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22828" y="205893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128919" y="106243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83206" y="123486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37246" y="408756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111294" y="193454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28034" y="546326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23870" y="571470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767364" y="397747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94237" y="326681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8648" y="436402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807467" y="355851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958931" y="634007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06 / PLANET 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Eight planets, one consistent comparison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The research uses the same question template for every planet so the viewer can compare worlds quickly.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201168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C93A8"/>
                </a:solidFill>
                <a:latin typeface="Aptos"/>
              </a:rPr>
              <a:t>PLANET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0280" y="201168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C93A8"/>
                </a:solidFill>
                <a:latin typeface="Aptos"/>
              </a:rPr>
              <a:t>DIST. M KM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201168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C93A8"/>
                </a:solidFill>
                <a:latin typeface="Aptos"/>
              </a:rPr>
              <a:t>DIAMETER KM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60" y="201168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C93A8"/>
                </a:solidFill>
                <a:latin typeface="Aptos"/>
              </a:rPr>
              <a:t>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201168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C93A8"/>
                </a:solidFill>
                <a:latin typeface="Aptos"/>
              </a:rPr>
              <a:t>YEAR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201168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C93A8"/>
                </a:solidFill>
                <a:latin typeface="Aptos"/>
              </a:rPr>
              <a:t>MOONS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1520" y="2313432"/>
            <a:ext cx="10698480" cy="0"/>
          </a:xfrm>
          <a:prstGeom prst="line">
            <a:avLst/>
          </a:prstGeom>
          <a:ln w="1270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31520" y="2514600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Mercury</a:t>
            </a:r>
          </a:p>
        </p:txBody>
      </p:sp>
      <p:sp>
        <p:nvSpPr>
          <p:cNvPr id="63" name="Oval 62"/>
          <p:cNvSpPr/>
          <p:nvPr/>
        </p:nvSpPr>
        <p:spPr>
          <a:xfrm>
            <a:off x="1993392" y="2578608"/>
            <a:ext cx="100584" cy="100584"/>
          </a:xfrm>
          <a:prstGeom prst="ellipse">
            <a:avLst/>
          </a:prstGeom>
          <a:solidFill>
            <a:srgbClr val="9A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40280" y="251460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57.9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251460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4,879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60" y="251460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59 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251460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88 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251460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0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1520" y="2871216"/>
            <a:ext cx="10698480" cy="0"/>
          </a:xfrm>
          <a:prstGeom prst="line">
            <a:avLst/>
          </a:prstGeom>
          <a:ln w="6350">
            <a:solidFill>
              <a:srgbClr val="1B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1520" y="2953512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Venus</a:t>
            </a:r>
          </a:p>
        </p:txBody>
      </p:sp>
      <p:sp>
        <p:nvSpPr>
          <p:cNvPr id="71" name="Oval 70"/>
          <p:cNvSpPr/>
          <p:nvPr/>
        </p:nvSpPr>
        <p:spPr>
          <a:xfrm>
            <a:off x="1993392" y="3017520"/>
            <a:ext cx="100584" cy="100584"/>
          </a:xfrm>
          <a:prstGeom prst="ellipse">
            <a:avLst/>
          </a:prstGeom>
          <a:solidFill>
            <a:srgbClr val="C98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40280" y="295351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108.2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0" y="295351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12,104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23560" y="295351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243 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295351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225 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75320" y="295351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0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31520" y="3310128"/>
            <a:ext cx="10698480" cy="0"/>
          </a:xfrm>
          <a:prstGeom prst="line">
            <a:avLst/>
          </a:prstGeom>
          <a:ln w="6350">
            <a:solidFill>
              <a:srgbClr val="1B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31520" y="3392424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Earth</a:t>
            </a:r>
          </a:p>
        </p:txBody>
      </p:sp>
      <p:sp>
        <p:nvSpPr>
          <p:cNvPr id="79" name="Oval 78"/>
          <p:cNvSpPr/>
          <p:nvPr/>
        </p:nvSpPr>
        <p:spPr>
          <a:xfrm>
            <a:off x="1993392" y="3456432"/>
            <a:ext cx="100584" cy="100584"/>
          </a:xfrm>
          <a:prstGeom prst="ellipse">
            <a:avLst/>
          </a:prstGeom>
          <a:solidFill>
            <a:srgbClr val="4E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40280" y="3392424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149.6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0" y="3392424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12,742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23560" y="3392424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24 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0" y="3392424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365.25 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75320" y="3392424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1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31520" y="3749039"/>
            <a:ext cx="10698480" cy="0"/>
          </a:xfrm>
          <a:prstGeom prst="line">
            <a:avLst/>
          </a:prstGeom>
          <a:ln w="6350">
            <a:solidFill>
              <a:srgbClr val="1B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31520" y="3831335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Mars</a:t>
            </a:r>
          </a:p>
        </p:txBody>
      </p:sp>
      <p:sp>
        <p:nvSpPr>
          <p:cNvPr id="87" name="Oval 86"/>
          <p:cNvSpPr/>
          <p:nvPr/>
        </p:nvSpPr>
        <p:spPr>
          <a:xfrm>
            <a:off x="1993392" y="3895344"/>
            <a:ext cx="100584" cy="100584"/>
          </a:xfrm>
          <a:prstGeom prst="ellipse">
            <a:avLst/>
          </a:prstGeom>
          <a:solidFill>
            <a:srgbClr val="C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40280" y="3831335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227.9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0" y="3831335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6,779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23560" y="3831335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24.6 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3831335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687 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75320" y="3831335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2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31520" y="4187951"/>
            <a:ext cx="10698480" cy="0"/>
          </a:xfrm>
          <a:prstGeom prst="line">
            <a:avLst/>
          </a:prstGeom>
          <a:ln w="6350">
            <a:solidFill>
              <a:srgbClr val="1B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31520" y="4270248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Jupiter</a:t>
            </a:r>
          </a:p>
        </p:txBody>
      </p:sp>
      <p:sp>
        <p:nvSpPr>
          <p:cNvPr id="95" name="Oval 94"/>
          <p:cNvSpPr/>
          <p:nvPr/>
        </p:nvSpPr>
        <p:spPr>
          <a:xfrm>
            <a:off x="1993392" y="4334256"/>
            <a:ext cx="100584" cy="100584"/>
          </a:xfrm>
          <a:prstGeom prst="ellipse">
            <a:avLst/>
          </a:prstGeom>
          <a:solidFill>
            <a:srgbClr val="C9A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240280" y="4270248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778.5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0" y="4270248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139,820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23560" y="4270248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9.9 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0" y="4270248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11.9 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75320" y="4270248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95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731520" y="4626864"/>
            <a:ext cx="10698480" cy="0"/>
          </a:xfrm>
          <a:prstGeom prst="line">
            <a:avLst/>
          </a:prstGeom>
          <a:ln w="6350">
            <a:solidFill>
              <a:srgbClr val="1B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731520" y="4709160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Saturn</a:t>
            </a:r>
          </a:p>
        </p:txBody>
      </p:sp>
      <p:sp>
        <p:nvSpPr>
          <p:cNvPr id="103" name="Oval 102"/>
          <p:cNvSpPr/>
          <p:nvPr/>
        </p:nvSpPr>
        <p:spPr>
          <a:xfrm>
            <a:off x="1993392" y="4773168"/>
            <a:ext cx="100584" cy="100584"/>
          </a:xfrm>
          <a:prstGeom prst="ellipse">
            <a:avLst/>
          </a:prstGeom>
          <a:solidFill>
            <a:srgbClr val="D8C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240280" y="470916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1,434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0" y="470916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116,460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23560" y="470916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10.7 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0" y="470916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29.5 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75320" y="470916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146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731520" y="5065776"/>
            <a:ext cx="10698480" cy="0"/>
          </a:xfrm>
          <a:prstGeom prst="line">
            <a:avLst/>
          </a:prstGeom>
          <a:ln w="6350">
            <a:solidFill>
              <a:srgbClr val="1B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31520" y="5148072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Uranus</a:t>
            </a:r>
          </a:p>
        </p:txBody>
      </p:sp>
      <p:sp>
        <p:nvSpPr>
          <p:cNvPr id="111" name="Oval 110"/>
          <p:cNvSpPr/>
          <p:nvPr/>
        </p:nvSpPr>
        <p:spPr>
          <a:xfrm>
            <a:off x="1993392" y="5212080"/>
            <a:ext cx="100584" cy="100584"/>
          </a:xfrm>
          <a:prstGeom prst="ellipse">
            <a:avLst/>
          </a:prstGeom>
          <a:solidFill>
            <a:srgbClr val="7F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40280" y="514807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2,871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57600" y="514807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50,724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23560" y="514807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17.2 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0" y="514807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84 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75320" y="5148072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27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731520" y="5504688"/>
            <a:ext cx="10698480" cy="0"/>
          </a:xfrm>
          <a:prstGeom prst="line">
            <a:avLst/>
          </a:prstGeom>
          <a:ln w="6350">
            <a:solidFill>
              <a:srgbClr val="1B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731520" y="5586983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Neptune</a:t>
            </a:r>
          </a:p>
        </p:txBody>
      </p:sp>
      <p:sp>
        <p:nvSpPr>
          <p:cNvPr id="119" name="Oval 118"/>
          <p:cNvSpPr/>
          <p:nvPr/>
        </p:nvSpPr>
        <p:spPr>
          <a:xfrm>
            <a:off x="1993392" y="5650992"/>
            <a:ext cx="100584" cy="100584"/>
          </a:xfrm>
          <a:prstGeom prst="ellipse">
            <a:avLst/>
          </a:prstGeom>
          <a:solidFill>
            <a:srgbClr val="3F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240280" y="5586983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4,495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657600" y="5586983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E7DC"/>
                </a:solidFill>
                <a:latin typeface="Aptos"/>
              </a:rPr>
              <a:t>49,244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23560" y="5586983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16.1 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0" y="5586983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165 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75320" y="5586983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14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31520" y="5943599"/>
            <a:ext cx="10698480" cy="0"/>
          </a:xfrm>
          <a:prstGeom prst="line">
            <a:avLst/>
          </a:prstGeom>
          <a:ln w="6350">
            <a:solidFill>
              <a:srgbClr val="1B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31520" y="6144768"/>
            <a:ext cx="1188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7A93C"/>
                </a:solidFill>
                <a:latin typeface="Aptos"/>
              </a:rPr>
              <a:t>STORY HOOKS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28800" y="6108192"/>
            <a:ext cx="9235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Mercury—extreme swings   •   Venus—hottest planet   •   Earth—known life   •   Mars—ancient water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929536" y="292161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35947" y="332677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73147" y="36051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1649" y="632036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4493" y="103756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44809" y="550525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13504" y="210499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8759" y="572080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27898" y="42451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9718" y="624637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9605" y="596846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63021" y="296797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5777" y="561705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03446" y="281761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40385" y="544770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24114" y="66270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77281" y="606433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94002" y="515655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09668" y="137669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73528" y="303014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74567" y="129576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54571" y="120797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30370" y="515468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95918" y="367446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99103" y="171232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49009" y="116444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58099" y="491753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73857" y="338250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52633" y="596711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71612" y="240444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79068" y="376450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2439" y="579848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9123" y="240709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67220" y="554813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89108" y="297109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69825" y="596681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40617" y="351094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58497" y="415658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91141" y="387226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37130" y="638500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46429" y="480016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36740" y="371192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30785" y="448696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211622" y="610729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307098" y="397714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861191" y="458029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97866" y="501550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31132" y="374372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67970" y="420952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75884" y="278900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90927" y="143392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95385" y="49585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68109" y="506736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99584" y="342552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387090" y="235442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906842" y="567683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35033" y="481058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40264" y="405148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844379" y="400351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71677" y="436657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07 / INFORMATION ARCHITECTURE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Two pages. One continuous fall.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The website is structured as a journey, not a collection of disconnected pages.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Cover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783080" y="2880360"/>
            <a:ext cx="210311" cy="0"/>
          </a:xfrm>
          <a:prstGeom prst="line">
            <a:avLst/>
          </a:prstGeom>
          <a:ln w="1524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205740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67128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67128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Milky Way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200400" y="2880360"/>
            <a:ext cx="210312" cy="0"/>
          </a:xfrm>
          <a:prstGeom prst="line">
            <a:avLst/>
          </a:prstGeom>
          <a:ln w="1524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347472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84448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84448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Solar System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617720" y="2880360"/>
            <a:ext cx="210311" cy="0"/>
          </a:xfrm>
          <a:prstGeom prst="line">
            <a:avLst/>
          </a:prstGeom>
          <a:ln w="1524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89204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01768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01768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Sun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035040" y="2880360"/>
            <a:ext cx="210312" cy="0"/>
          </a:xfrm>
          <a:prstGeom prst="line">
            <a:avLst/>
          </a:prstGeom>
          <a:ln w="1524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630936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19088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19088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Mercury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452360" y="2880360"/>
            <a:ext cx="210312" cy="0"/>
          </a:xfrm>
          <a:prstGeom prst="line">
            <a:avLst/>
          </a:prstGeom>
          <a:ln w="1524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740664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16367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16367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Venus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549640" y="2880360"/>
            <a:ext cx="210312" cy="0"/>
          </a:xfrm>
          <a:prstGeom prst="line">
            <a:avLst/>
          </a:prstGeom>
          <a:ln w="1524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850392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13648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13648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Earth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46920" y="2880360"/>
            <a:ext cx="210312" cy="0"/>
          </a:xfrm>
          <a:prstGeom prst="line">
            <a:avLst/>
          </a:prstGeom>
          <a:ln w="1524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960120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10928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10928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Mars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0744200" y="2880360"/>
            <a:ext cx="210312" cy="0"/>
          </a:xfrm>
          <a:prstGeom prst="line">
            <a:avLst/>
          </a:prstGeom>
          <a:ln w="15240">
            <a:solidFill>
              <a:srgbClr val="E7A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10698480" y="2423160"/>
            <a:ext cx="1143000" cy="914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808207" y="2578608"/>
            <a:ext cx="274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08207" y="281635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Jupiter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840480" y="4343400"/>
            <a:ext cx="1508760" cy="100584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50208" y="4480560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50208" y="4727448"/>
            <a:ext cx="1188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Saturn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349240" y="4846320"/>
            <a:ext cx="228600" cy="0"/>
          </a:xfrm>
          <a:prstGeom prst="line">
            <a:avLst/>
          </a:prstGeom>
          <a:ln w="12700">
            <a:solidFill>
              <a:srgbClr val="6FD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5669280" y="4343400"/>
            <a:ext cx="1508760" cy="100584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79008" y="4480560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79008" y="4727448"/>
            <a:ext cx="1188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Uranus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178040" y="4846320"/>
            <a:ext cx="228600" cy="0"/>
          </a:xfrm>
          <a:prstGeom prst="line">
            <a:avLst/>
          </a:prstGeom>
          <a:ln w="12700">
            <a:solidFill>
              <a:srgbClr val="6FD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7498079" y="4343400"/>
            <a:ext cx="1508760" cy="100584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607807" y="4480560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7A93C"/>
                </a:solidFill>
                <a:latin typeface="Aptos"/>
              </a:rPr>
              <a:t>08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07807" y="4727448"/>
            <a:ext cx="1188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Neptune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9006840" y="4846320"/>
            <a:ext cx="228600" cy="0"/>
          </a:xfrm>
          <a:prstGeom prst="line">
            <a:avLst/>
          </a:prstGeom>
          <a:ln w="12700">
            <a:solidFill>
              <a:srgbClr val="6FD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9326880" y="4343400"/>
            <a:ext cx="1508760" cy="100584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436607" y="4480560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FD3D3"/>
                </a:solidFill>
                <a:latin typeface="Aptos"/>
              </a:rPr>
              <a:t>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7" y="4727448"/>
            <a:ext cx="1188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CE7DC"/>
                </a:solidFill>
                <a:latin typeface="Aptos"/>
              </a:rPr>
              <a:t>Earth–Moon
detour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5806440"/>
            <a:ext cx="10698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7DC"/>
                </a:solidFill>
                <a:latin typeface="Aptos"/>
              </a:rPr>
              <a:t>Page 2 contains 11 scroll-triggered scenes; the boxes are scenes, not separate routes.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6263640"/>
            <a:ext cx="7315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Interaction principle: scroll = camera movement through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14686" y="377133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73970" y="395060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22320" y="422650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45902" y="105772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12689" y="640059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76" y="356753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98203" y="170791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52041" y="299719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14552" y="204686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7438" y="438828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73145" y="559204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7539" y="346693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31344" y="83784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95180" y="57101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8673" y="152326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00366" y="473950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68188" y="142580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3060" y="229638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7235" y="101099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9124" y="531161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85613" y="304194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84621" y="285890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30860" y="656481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11670" y="646616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41914" y="269688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97187" y="152158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2276" y="227281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9663" y="72222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84741" y="255035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38585" y="327761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26772" y="420938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58535" y="175696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26845" y="624249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31614" y="586454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0631" y="84512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31651" y="267959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92984" y="332484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753072" y="95778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05535" y="413553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662004" y="607722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337122" y="303078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32323" y="253140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42051" y="592135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49349" y="352571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54169" y="25333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843644" y="35492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6818" y="215665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1825" y="368254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99801" y="97819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46702" y="3209797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8004" y="626738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79876" y="23150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3580" y="409007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737886" y="658604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061717" y="620254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08 / VISUAL &amp; INTERACTION 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A quiet canvas that keeps the planet in focus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1965960"/>
            <a:ext cx="5623560" cy="4160520"/>
          </a:xfrm>
          <a:prstGeom prst="roundRect">
            <a:avLst/>
          </a:prstGeom>
          <a:solidFill>
            <a:srgbClr val="05060C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2286000"/>
            <a:ext cx="1645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C93A8"/>
                </a:solidFill>
                <a:latin typeface="Aptos"/>
              </a:rPr>
              <a:t>PLANET 04 OF 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2606040"/>
            <a:ext cx="22860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Mars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3246120"/>
            <a:ext cx="28803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C93A8"/>
                </a:solidFill>
                <a:latin typeface="Aptos"/>
              </a:rPr>
              <a:t>Rust-red, wind-scoured, and the only other place we keep sending machines to look for water.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14400" y="4178808"/>
            <a:ext cx="1234440" cy="0"/>
          </a:xfrm>
          <a:prstGeom prst="line">
            <a:avLst/>
          </a:prstGeom>
          <a:ln w="889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14400" y="425196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C93A8"/>
                </a:solidFill>
                <a:latin typeface="Aptos"/>
              </a:rPr>
              <a:t>DISTANCE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4453128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E7DC"/>
                </a:solidFill>
                <a:latin typeface="Aptos"/>
              </a:rPr>
              <a:t>227.9M km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423160" y="4178808"/>
            <a:ext cx="1234440" cy="0"/>
          </a:xfrm>
          <a:prstGeom prst="line">
            <a:avLst/>
          </a:prstGeom>
          <a:ln w="889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423160" y="425196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C93A8"/>
                </a:solidFill>
                <a:latin typeface="Aptos"/>
              </a:rPr>
              <a:t>DIAMETER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23160" y="4453128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E7DC"/>
                </a:solidFill>
                <a:latin typeface="Aptos"/>
              </a:rPr>
              <a:t>6,779 km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14400" y="4818888"/>
            <a:ext cx="1234440" cy="0"/>
          </a:xfrm>
          <a:prstGeom prst="line">
            <a:avLst/>
          </a:prstGeom>
          <a:ln w="889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14400" y="489204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C93A8"/>
                </a:solidFill>
                <a:latin typeface="Aptos"/>
              </a:rPr>
              <a:t>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093208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E7DC"/>
                </a:solidFill>
                <a:latin typeface="Aptos"/>
              </a:rPr>
              <a:t>24.6 hours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423160" y="4818888"/>
            <a:ext cx="1234440" cy="0"/>
          </a:xfrm>
          <a:prstGeom prst="line">
            <a:avLst/>
          </a:prstGeom>
          <a:ln w="889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423160" y="489204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C93A8"/>
                </a:solidFill>
                <a:latin typeface="Aptos"/>
              </a:rPr>
              <a:t>MOONS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5093208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E7DC"/>
                </a:solidFill>
                <a:latin typeface="Aptos"/>
              </a:rPr>
              <a:t>2</a:t>
            </a:r>
          </a:p>
        </p:txBody>
      </p:sp>
      <p:sp>
        <p:nvSpPr>
          <p:cNvPr id="75" name="Oval 74"/>
          <p:cNvSpPr/>
          <p:nvPr/>
        </p:nvSpPr>
        <p:spPr>
          <a:xfrm>
            <a:off x="4050791" y="2587752"/>
            <a:ext cx="1728216" cy="1728216"/>
          </a:xfrm>
          <a:prstGeom prst="ellipse">
            <a:avLst/>
          </a:prstGeom>
          <a:solidFill>
            <a:srgbClr val="C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160520" y="2697480"/>
            <a:ext cx="1508760" cy="1508760"/>
          </a:xfrm>
          <a:prstGeom prst="ellipse">
            <a:avLst/>
          </a:prstGeom>
          <a:solidFill>
            <a:srgbClr val="C05A3A"/>
          </a:solidFill>
          <a:ln>
            <a:solidFill>
              <a:srgbClr val="9D3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914400" y="5532120"/>
            <a:ext cx="4526280" cy="0"/>
          </a:xfrm>
          <a:prstGeom prst="line">
            <a:avLst/>
          </a:prstGeom>
          <a:ln w="12700">
            <a:solidFill>
              <a:srgbClr val="30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914400" y="5486400"/>
            <a:ext cx="91440" cy="91440"/>
          </a:xfrm>
          <a:prstGeom prst="ellipse">
            <a:avLst/>
          </a:prstGeom>
          <a:solidFill>
            <a:srgbClr val="9A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554480" y="5486400"/>
            <a:ext cx="91440" cy="91440"/>
          </a:xfrm>
          <a:prstGeom prst="ellipse">
            <a:avLst/>
          </a:prstGeom>
          <a:solidFill>
            <a:srgbClr val="C98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194560" y="5486400"/>
            <a:ext cx="91440" cy="91440"/>
          </a:xfrm>
          <a:prstGeom prst="ellipse">
            <a:avLst/>
          </a:prstGeom>
          <a:solidFill>
            <a:srgbClr val="4E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34639" y="5486400"/>
            <a:ext cx="91440" cy="91440"/>
          </a:xfrm>
          <a:prstGeom prst="ellipse">
            <a:avLst/>
          </a:prstGeom>
          <a:solidFill>
            <a:srgbClr val="C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74720" y="5486400"/>
            <a:ext cx="164592" cy="164592"/>
          </a:xfrm>
          <a:prstGeom prst="ellipse">
            <a:avLst/>
          </a:prstGeom>
          <a:solidFill>
            <a:srgbClr val="C9A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114800" y="5486400"/>
            <a:ext cx="91440" cy="91440"/>
          </a:xfrm>
          <a:prstGeom prst="ellipse">
            <a:avLst/>
          </a:prstGeom>
          <a:solidFill>
            <a:srgbClr val="D8C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754879" y="5486400"/>
            <a:ext cx="91440" cy="91440"/>
          </a:xfrm>
          <a:prstGeom prst="ellipse">
            <a:avLst/>
          </a:prstGeom>
          <a:solidFill>
            <a:srgbClr val="7F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394959" y="5486400"/>
            <a:ext cx="91440" cy="91440"/>
          </a:xfrm>
          <a:prstGeom prst="ellipse">
            <a:avLst/>
          </a:prstGeom>
          <a:solidFill>
            <a:srgbClr val="3F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4400" y="5715000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C93A8"/>
                </a:solidFill>
                <a:latin typeface="Aptos"/>
              </a:rPr>
              <a:t>orbit rail = journey position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20840" y="205740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7A93C"/>
                </a:solidFill>
                <a:latin typeface="Aptos"/>
              </a:rPr>
              <a:t>DESIGN RULES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20840" y="2542032"/>
            <a:ext cx="1143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E7DC"/>
                </a:solidFill>
                <a:latin typeface="Aptos"/>
              </a:rPr>
              <a:t>Canvas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09560" y="2542032"/>
            <a:ext cx="3246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Deep space + faint stars; no visual competition.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20840" y="3118103"/>
            <a:ext cx="1143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E7DC"/>
                </a:solidFill>
                <a:latin typeface="Aptos"/>
              </a:rPr>
              <a:t>Layout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09560" y="3118103"/>
            <a:ext cx="3246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Planet right / narrow text column left.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20840" y="3694176"/>
            <a:ext cx="1143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E7DC"/>
                </a:solidFill>
                <a:latin typeface="Aptos"/>
              </a:rPr>
              <a:t>Typography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09560" y="3694176"/>
            <a:ext cx="3246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Bodoni Moda for display; Spectral for reading.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20840" y="4270248"/>
            <a:ext cx="1143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E7DC"/>
                </a:solidFill>
                <a:latin typeface="Aptos"/>
              </a:rPr>
              <a:t>Colour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09560" y="4270248"/>
            <a:ext cx="3246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Warm solar accent + one tint per planet.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0840" y="4846320"/>
            <a:ext cx="1143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E7DC"/>
                </a:solidFill>
                <a:latin typeface="Aptos"/>
              </a:rPr>
              <a:t>Motion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09560" y="4846320"/>
            <a:ext cx="3246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Slow planet rotation; restrained transitions.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20840" y="5422392"/>
            <a:ext cx="1143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E7DC"/>
                </a:solidFill>
                <a:latin typeface="Aptos"/>
              </a:rPr>
              <a:t>Accessibility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09560" y="5422392"/>
            <a:ext cx="3246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C93A8"/>
                </a:solidFill>
                <a:latin typeface="Aptos"/>
              </a:rPr>
              <a:t>44px tap targets; labels; reduced-motion support.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20840" y="5806440"/>
            <a:ext cx="749808" cy="201168"/>
          </a:xfrm>
          <a:prstGeom prst="rect">
            <a:avLst/>
          </a:prstGeom>
          <a:solidFill>
            <a:srgbClr val="05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20840" y="6035040"/>
            <a:ext cx="7498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8C93A8"/>
                </a:solidFill>
                <a:latin typeface="Aptos"/>
              </a:rPr>
              <a:t>VOID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35240" y="5806440"/>
            <a:ext cx="749808" cy="201168"/>
          </a:xfrm>
          <a:prstGeom prst="rect">
            <a:avLst/>
          </a:prstGeom>
          <a:solidFill>
            <a:srgbClr val="E7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635240" y="6035040"/>
            <a:ext cx="7498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8C93A8"/>
                </a:solidFill>
                <a:latin typeface="Aptos"/>
              </a:rPr>
              <a:t>SOLAR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49640" y="5806440"/>
            <a:ext cx="749808" cy="201168"/>
          </a:xfrm>
          <a:prstGeom prst="rect">
            <a:avLst/>
          </a:prstGeom>
          <a:solidFill>
            <a:srgbClr val="4E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49640" y="6035040"/>
            <a:ext cx="7498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8C93A8"/>
                </a:solidFill>
                <a:latin typeface="Aptos"/>
              </a:rPr>
              <a:t>EARTH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464040" y="5806440"/>
            <a:ext cx="749808" cy="201168"/>
          </a:xfrm>
          <a:prstGeom prst="rect">
            <a:avLst/>
          </a:prstGeom>
          <a:solidFill>
            <a:srgbClr val="C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464040" y="6035040"/>
            <a:ext cx="7498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8C93A8"/>
                </a:solidFill>
                <a:latin typeface="Aptos"/>
              </a:rPr>
              <a:t>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78440" y="5806440"/>
            <a:ext cx="749808" cy="201168"/>
          </a:xfrm>
          <a:prstGeom prst="rect">
            <a:avLst/>
          </a:prstGeom>
          <a:solidFill>
            <a:srgbClr val="3F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378440" y="6035040"/>
            <a:ext cx="7498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8C93A8"/>
                </a:solidFill>
                <a:latin typeface="Aptos"/>
              </a:rPr>
              <a:t>NEPTUNE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78476" y="440562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673803" y="660747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85488" y="312500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6962" y="418982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6064" y="601895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0638" y="62154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46890" y="560624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80547" y="443531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98972" y="288863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92989" y="644321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72181" y="647458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72416" y="543286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15997" y="400634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8755" y="33513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42678" y="444538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33042" y="264053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37224" y="231357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51256" y="510425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5176" y="571453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147" y="452367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66966" y="407982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4135" y="191465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60548" y="404592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96499" y="149269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8586" y="636158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00037" y="122501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86601" y="499678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19331" y="533986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6841" y="339241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16770" y="248054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62622" y="586309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41126" y="522821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90486" y="184252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064641" y="202848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59949" y="573453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53093" y="490251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59623" y="464345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74414" y="286599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11408" y="649616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193" y="293645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18928" y="390372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21947" y="263692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25146" y="114621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8050" y="61103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516609" y="615576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35352" y="216347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401836" y="151295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58548" y="277873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83230" y="105781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851640" y="465427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226896" y="149505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269360" y="447005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70410" y="226304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594978" y="251646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77833" y="156791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Aptos"/>
              </a:rPr>
              <a:t>09 / FROM RESEARCH TO WEBSITE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749808"/>
            <a:ext cx="106984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CE7DC"/>
                </a:solidFill>
                <a:latin typeface="Georgia"/>
              </a:rPr>
              <a:t>How the research became interaction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93A8"/>
                </a:solidFill>
                <a:latin typeface="Aptos"/>
              </a:rPr>
              <a:t>The final concept connects content, data and interface behavior into one continuous narrative.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2468880"/>
            <a:ext cx="1554480" cy="2057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2" y="2670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7A93C"/>
                </a:solidFill>
                <a:latin typeface="Aptos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" y="2999232"/>
            <a:ext cx="1234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RESEARCH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" y="3493008"/>
            <a:ext cx="11887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C93A8"/>
                </a:solidFill>
                <a:latin typeface="Georgia"/>
              </a:rPr>
              <a:t>Questions
+ answers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4560" y="3246120"/>
            <a:ext cx="3200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7A93C"/>
                </a:solidFill>
                <a:latin typeface="Aptos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496312" y="2468880"/>
            <a:ext cx="1554480" cy="2057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60904" y="2670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7A93C"/>
                </a:solidFill>
                <a:latin typeface="Aptos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60904" y="2999232"/>
            <a:ext cx="1234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DATA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60904" y="3493008"/>
            <a:ext cx="11887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C93A8"/>
                </a:solidFill>
                <a:latin typeface="Georgia"/>
              </a:rPr>
              <a:t>Facts
+ comparisons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96512" y="3246120"/>
            <a:ext cx="3200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7A93C"/>
                </a:solidFill>
                <a:latin typeface="Aptos"/>
              </a:rP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98264" y="2468880"/>
            <a:ext cx="1554480" cy="2057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62856" y="2670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7A93C"/>
                </a:solidFill>
                <a:latin typeface="Aptos"/>
              </a:rPr>
              <a:t>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62856" y="2999232"/>
            <a:ext cx="1234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STORY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2856" y="3493008"/>
            <a:ext cx="11887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C93A8"/>
                </a:solidFill>
                <a:latin typeface="Georgia"/>
              </a:rPr>
              <a:t>Scale
+ sequence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98464" y="3246120"/>
            <a:ext cx="3200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7A93C"/>
                </a:solidFill>
                <a:latin typeface="Aptos"/>
              </a:rP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0216" y="2468880"/>
            <a:ext cx="1554480" cy="2057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2670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7A93C"/>
                </a:solidFill>
                <a:latin typeface="Aptos"/>
              </a:rPr>
              <a:t>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64808" y="2999232"/>
            <a:ext cx="1234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IA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64808" y="3493008"/>
            <a:ext cx="11887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C93A8"/>
                </a:solidFill>
                <a:latin typeface="Georgia"/>
              </a:rPr>
              <a:t>Scenes
+ transitions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00416" y="3246120"/>
            <a:ext cx="3200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7A93C"/>
                </a:solidFill>
                <a:latin typeface="Aptos"/>
              </a:rPr>
              <a:t>→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02168" y="2468880"/>
            <a:ext cx="1554480" cy="2057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66760" y="2670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7A93C"/>
                </a:solidFill>
                <a:latin typeface="Aptos"/>
              </a:rPr>
              <a:t>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66760" y="2999232"/>
            <a:ext cx="1234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DESIGN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3493008"/>
            <a:ext cx="11887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C93A8"/>
                </a:solidFill>
                <a:latin typeface="Georgia"/>
              </a:rPr>
              <a:t>Canvas
+ planet system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02368" y="3246120"/>
            <a:ext cx="3200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7A93C"/>
                </a:solidFill>
                <a:latin typeface="Aptos"/>
              </a:rPr>
              <a:t>→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104120" y="2468880"/>
            <a:ext cx="1554480" cy="2057400"/>
          </a:xfrm>
          <a:prstGeom prst="roundRect">
            <a:avLst/>
          </a:prstGeom>
          <a:solidFill>
            <a:srgbClr val="0B0E1A"/>
          </a:solidFill>
          <a:ln w="1016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68712" y="2670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7A93C"/>
                </a:solidFill>
                <a:latin typeface="Aptos"/>
              </a:rPr>
              <a:t>06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68712" y="2999232"/>
            <a:ext cx="1234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CE7DC"/>
                </a:solidFill>
                <a:latin typeface="Aptos"/>
              </a:rPr>
              <a:t>INTERACTION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68712" y="3493008"/>
            <a:ext cx="11887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C93A8"/>
                </a:solidFill>
                <a:latin typeface="Georgia"/>
              </a:rPr>
              <a:t>Scroll
+ zoom + rail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507492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FD3D3"/>
                </a:solidFill>
                <a:latin typeface="Aptos"/>
              </a:rPr>
              <a:t>KEY DESIGN DECISION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5413248"/>
            <a:ext cx="10515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CE7DC"/>
                </a:solidFill>
                <a:latin typeface="Georgia"/>
              </a:rPr>
              <a:t>Do not show every researched fact at once. Filter the research into a readable hook, four comparable stats and three–five story facts.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5989320"/>
            <a:ext cx="9784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C93A8"/>
                </a:solidFill>
                <a:latin typeface="Aptos"/>
              </a:rPr>
              <a:t>This keeps the experience informative without turning the interactive canvas into a textbook.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16045" y="458601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77856" y="109255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2645" y="98253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39803" y="293908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5619" y="68868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99070" y="297274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62409" y="244669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14728" y="370596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66509" y="292766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32242" y="545848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67112" y="410514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82673" y="301581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45823" y="353061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98841" y="406820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8481" y="370806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76582" y="98830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15230" y="314730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81081" y="576920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57309" y="466959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52934" y="489695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84627" y="1455463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54470" y="102664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7308" y="573068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79537" y="38807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47748" y="120502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26225" y="292327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48337" y="432525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99560" y="92607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3925" y="4675287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96169" y="555495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6433" y="3360940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95664" y="206247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97125" y="604770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193510" y="5488005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87453" y="166781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52993" y="1460586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0145" y="271869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49397" y="4031264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36086" y="137346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69408" y="53512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00832" y="47863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994631" y="2136478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3891" y="96994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389755" y="5827236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10066" y="205548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118038" y="589708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770686" y="6060362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830223" y="255001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68140" y="1524911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78471" y="168699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1794" y="416625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27828" y="6256600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851028" y="110453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69974" y="47530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78378" y="832831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18092" y="2303272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32570" y="554624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2000" y="75178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738743" y="1875529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714301" y="3554249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83145" y="6222048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458627" y="257164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93316" y="3279712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618033" y="599347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245930" y="4773267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947766" y="35914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360088" y="3960245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659449" y="336337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522433" y="6052404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540943" y="280174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19264" y="1135301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088887" y="6148027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920061" y="4084733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441612" y="19942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919239" y="4376259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65338" y="291056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23347" y="1100365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26966" y="1002684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830816" y="197775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10971" y="95101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79261" y="368689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8323" y="30627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67435" y="542651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935442" y="2824101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458507" y="2333196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263706" y="257371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823697" y="2826882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59257" y="2802293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113966" y="158108"/>
            <a:ext cx="14630" cy="146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24014" y="358399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639124" y="1460545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478917" y="972028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733324" y="151601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039072" y="133966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37355" y="6534100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288121" y="279519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925142" y="3469390"/>
            <a:ext cx="7315" cy="73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281925" y="473546"/>
            <a:ext cx="10972" cy="109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530661" y="2905963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045933" y="1965169"/>
            <a:ext cx="20116" cy="20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7A93C"/>
                </a:solidFill>
                <a:latin typeface="Aptos"/>
              </a:rPr>
              <a:t>THE GALACTIC CANVAS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" y="1143000"/>
            <a:ext cx="5486400" cy="182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ECE7DC"/>
                </a:solidFill>
                <a:latin typeface="Georgia"/>
              </a:rPr>
              <a:t>Research →
Interaction →
Experience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3337560"/>
            <a:ext cx="521208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8C93A8"/>
                </a:solidFill>
                <a:latin typeface="Aptos"/>
              </a:rPr>
              <a:t>The website turns researched astronomical facts into a continuous visual journey from galaxy to planet.</a:t>
            </a:r>
          </a:p>
        </p:txBody>
      </p:sp>
      <p:sp>
        <p:nvSpPr>
          <p:cNvPr id="105" name="Oval 104"/>
          <p:cNvSpPr/>
          <p:nvPr/>
        </p:nvSpPr>
        <p:spPr>
          <a:xfrm>
            <a:off x="8046719" y="2821838"/>
            <a:ext cx="1463040" cy="848563"/>
          </a:xfrm>
          <a:prstGeom prst="ellipse">
            <a:avLst/>
          </a:prstGeom>
          <a:noFill/>
          <a:ln w="889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589519" y="2556662"/>
            <a:ext cx="2377440" cy="1378915"/>
          </a:xfrm>
          <a:prstGeom prst="ellipse">
            <a:avLst/>
          </a:prstGeom>
          <a:noFill/>
          <a:ln w="889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086600" y="2264968"/>
            <a:ext cx="3383280" cy="1962302"/>
          </a:xfrm>
          <a:prstGeom prst="ellipse">
            <a:avLst/>
          </a:prstGeom>
          <a:noFill/>
          <a:ln w="889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629400" y="1999792"/>
            <a:ext cx="4297680" cy="2492654"/>
          </a:xfrm>
          <a:prstGeom prst="ellipse">
            <a:avLst/>
          </a:prstGeom>
          <a:noFill/>
          <a:ln w="889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549640" y="3017520"/>
            <a:ext cx="457200" cy="457200"/>
          </a:xfrm>
          <a:prstGeom prst="ellipse">
            <a:avLst/>
          </a:prstGeom>
          <a:solidFill>
            <a:srgbClr val="F2B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347746" y="3394252"/>
            <a:ext cx="128016" cy="128016"/>
          </a:xfrm>
          <a:prstGeom prst="ellipse">
            <a:avLst/>
          </a:prstGeom>
          <a:solidFill>
            <a:srgbClr val="9A8F86"/>
          </a:solidFill>
          <a:ln>
            <a:solidFill>
              <a:srgbClr val="776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119871" y="3779199"/>
            <a:ext cx="128016" cy="128016"/>
          </a:xfrm>
          <a:prstGeom prst="ellipse">
            <a:avLst/>
          </a:prstGeom>
          <a:solidFill>
            <a:srgbClr val="4E8FC4"/>
          </a:solidFill>
          <a:ln>
            <a:solidFill>
              <a:srgbClr val="2B6C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249228" y="2691536"/>
            <a:ext cx="128016" cy="128016"/>
          </a:xfrm>
          <a:prstGeom prst="ellipse">
            <a:avLst/>
          </a:prstGeom>
          <a:solidFill>
            <a:srgbClr val="C05A3A"/>
          </a:solidFill>
          <a:ln>
            <a:solidFill>
              <a:srgbClr val="9D3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360338" y="2380988"/>
            <a:ext cx="219456" cy="219456"/>
          </a:xfrm>
          <a:prstGeom prst="ellipse">
            <a:avLst/>
          </a:prstGeom>
          <a:solidFill>
            <a:srgbClr val="C9A177"/>
          </a:solidFill>
          <a:ln>
            <a:solidFill>
              <a:srgbClr val="A6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85800" y="4800600"/>
            <a:ext cx="10744200" cy="1143000"/>
          </a:xfrm>
          <a:prstGeom prst="roundRect">
            <a:avLst/>
          </a:prstGeom>
          <a:solidFill>
            <a:srgbClr val="0A0C16"/>
          </a:solidFill>
          <a:ln w="10160">
            <a:solidFill>
              <a:srgbClr val="E7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0120" y="507492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C93A8"/>
                </a:solidFill>
                <a:latin typeface="Aptos"/>
              </a:rPr>
              <a:t>PROJECT / ZIP FOLDER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43200" y="4956048"/>
            <a:ext cx="81381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6FD3D3"/>
                </a:solidFill>
                <a:latin typeface="Aptos"/>
                <a:hlinkClick r:id="rId2"/>
              </a:rPr>
              <a:t>https://github.com/shanugupta04022-hub/Milky-Way2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0120" y="537667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7A93C"/>
                </a:solidFill>
                <a:latin typeface="Aptos"/>
              </a:rPr>
              <a:t>GitHub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